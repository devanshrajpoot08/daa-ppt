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M Sans" pitchFamily="2" charset="0"/>
      <p:regular r:id="rId11"/>
    </p:embeddedFon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Inter Medium" panose="020B0604020202020204" charset="0"/>
      <p:regular r:id="rId14"/>
    </p:embeddedFont>
    <p:embeddedFont>
      <p:font typeface="Inter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34" Type="http://schemas.openxmlformats.org/officeDocument/2006/relationships/image" Target="../media/image5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31" Type="http://schemas.openxmlformats.org/officeDocument/2006/relationships/image" Target="../media/image50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Relationship Id="rId8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25244" y="2142670"/>
            <a:ext cx="9362756" cy="6865288"/>
          </a:xfrm>
          <a:custGeom>
            <a:avLst/>
            <a:gdLst/>
            <a:ahLst/>
            <a:cxnLst/>
            <a:rect l="l" t="t" r="r" b="b"/>
            <a:pathLst>
              <a:path w="9362756" h="6865288">
                <a:moveTo>
                  <a:pt x="0" y="0"/>
                </a:moveTo>
                <a:lnTo>
                  <a:pt x="9362756" y="0"/>
                </a:lnTo>
                <a:lnTo>
                  <a:pt x="9362756" y="6865287"/>
                </a:lnTo>
                <a:lnTo>
                  <a:pt x="0" y="6865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6275" y="1265567"/>
            <a:ext cx="4702990" cy="16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11"/>
              </a:lnSpc>
            </a:pPr>
            <a:r>
              <a:rPr lang="en-US" sz="12611" b="1" spc="-504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Binary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2703" y="2726468"/>
            <a:ext cx="5418014" cy="16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11"/>
              </a:lnSpc>
            </a:pPr>
            <a:r>
              <a:rPr lang="en-US" sz="12611" b="1" spc="-504">
                <a:solidFill>
                  <a:srgbClr val="3D74D7"/>
                </a:solidFill>
                <a:latin typeface="Inter Bold"/>
                <a:ea typeface="Inter Bold"/>
                <a:cs typeface="Inter Bold"/>
                <a:sym typeface="Inter Bold"/>
              </a:rPr>
              <a:t>Search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3584" y="4542952"/>
            <a:ext cx="6329917" cy="45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3478" b="1" spc="-69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B.Tech DAA Lab 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1343" y="5623427"/>
            <a:ext cx="6618074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49" dirty="0">
                <a:solidFill>
                  <a:srgbClr val="3D74D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Student Name : </a:t>
            </a:r>
            <a:r>
              <a:rPr lang="en-US" sz="2487" b="1" spc="-49" dirty="0">
                <a:solidFill>
                  <a:schemeClr val="bg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Devansh Rajpoot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4896" y="6752990"/>
            <a:ext cx="4691504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49" dirty="0">
                <a:solidFill>
                  <a:srgbClr val="3D74D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Class  :  </a:t>
            </a:r>
            <a:r>
              <a:rPr lang="en-US" sz="2487" b="1" spc="-49" dirty="0">
                <a:solidFill>
                  <a:schemeClr val="bg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2265" y="7325302"/>
            <a:ext cx="500675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49" dirty="0">
                <a:solidFill>
                  <a:srgbClr val="3D74D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Faculty Name  :  </a:t>
            </a:r>
            <a:r>
              <a:rPr lang="en-US" sz="2487" b="1" spc="-49" dirty="0">
                <a:solidFill>
                  <a:schemeClr val="bg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Dr. Parul Dubey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7925691"/>
            <a:ext cx="7634584" cy="218640"/>
          </a:xfrm>
          <a:custGeom>
            <a:avLst/>
            <a:gdLst/>
            <a:ahLst/>
            <a:cxnLst/>
            <a:rect l="l" t="t" r="r" b="b"/>
            <a:pathLst>
              <a:path w="7634584" h="218640">
                <a:moveTo>
                  <a:pt x="0" y="0"/>
                </a:moveTo>
                <a:lnTo>
                  <a:pt x="7634584" y="0"/>
                </a:lnTo>
                <a:lnTo>
                  <a:pt x="7634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84441" y="6180678"/>
            <a:ext cx="500675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49" dirty="0">
                <a:solidFill>
                  <a:srgbClr val="3D74D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Roll Number  : </a:t>
            </a:r>
            <a:r>
              <a:rPr lang="en-US" sz="2487" b="1" spc="-49" dirty="0">
                <a:solidFill>
                  <a:schemeClr val="bg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25070521031</a:t>
            </a:r>
            <a:r>
              <a:rPr lang="en-US" sz="2487" b="1" spc="-49" dirty="0">
                <a:solidFill>
                  <a:srgbClr val="3D74D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  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22998" y="6180678"/>
            <a:ext cx="68182" cy="318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49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175196" y="0"/>
            <a:ext cx="3281340" cy="10287000"/>
          </a:xfrm>
          <a:custGeom>
            <a:avLst/>
            <a:gdLst/>
            <a:ahLst/>
            <a:cxnLst/>
            <a:rect l="l" t="t" r="r" b="b"/>
            <a:pathLst>
              <a:path w="3281340" h="10287000">
                <a:moveTo>
                  <a:pt x="0" y="0"/>
                </a:moveTo>
                <a:lnTo>
                  <a:pt x="3281340" y="0"/>
                </a:lnTo>
                <a:lnTo>
                  <a:pt x="32813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3505" y="1375758"/>
            <a:ext cx="6016706" cy="107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b="1" spc="-162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0567" y="2583830"/>
            <a:ext cx="4310509" cy="67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5139" b="1" spc="-102">
                <a:solidFill>
                  <a:srgbClr val="5483D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Binary Search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3969" y="3831935"/>
            <a:ext cx="5970255" cy="117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234" spc="-6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An efficient searching algorithm designed for sorted arrays.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370" y="5729601"/>
            <a:ext cx="5530222" cy="117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234" spc="-6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It quickly locates the position of a target value.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0470" y="7642327"/>
            <a:ext cx="6320173" cy="117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234" spc="-64">
                <a:solidFill>
                  <a:srgbClr val="FFFFFF">
                    <a:alpha val="89804"/>
                  </a:srgbClr>
                </a:solidFill>
                <a:latin typeface="DM Sans"/>
                <a:ea typeface="DM Sans"/>
                <a:cs typeface="DM Sans"/>
                <a:sym typeface="DM Sans"/>
              </a:rPr>
              <a:t>Widely used in computer science and software development.</a:t>
            </a:r>
          </a:p>
        </p:txBody>
      </p:sp>
      <p:sp>
        <p:nvSpPr>
          <p:cNvPr id="9" name="Freeform 9"/>
          <p:cNvSpPr/>
          <p:nvPr/>
        </p:nvSpPr>
        <p:spPr>
          <a:xfrm>
            <a:off x="9570574" y="2776725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64354" y="2776725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528440" y="277672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403464" y="277672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497244" y="2776725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361330" y="277672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4646731" y="3133131"/>
            <a:ext cx="505084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6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23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236354" y="2776725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580665" y="3133131"/>
            <a:ext cx="512449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6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38</a:t>
            </a:r>
          </a:p>
        </p:txBody>
      </p:sp>
      <p:sp>
        <p:nvSpPr>
          <p:cNvPr id="18" name="Freeform 18"/>
          <p:cNvSpPr/>
          <p:nvPr/>
        </p:nvSpPr>
        <p:spPr>
          <a:xfrm>
            <a:off x="16100440" y="2776725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7194220" y="2776725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26842" y="3640352"/>
            <a:ext cx="7415828" cy="3869923"/>
          </a:xfrm>
          <a:custGeom>
            <a:avLst/>
            <a:gdLst/>
            <a:ahLst/>
            <a:cxnLst/>
            <a:rect l="l" t="t" r="r" b="b"/>
            <a:pathLst>
              <a:path w="7415828" h="3869923">
                <a:moveTo>
                  <a:pt x="0" y="0"/>
                </a:moveTo>
                <a:lnTo>
                  <a:pt x="7415828" y="0"/>
                </a:lnTo>
                <a:lnTo>
                  <a:pt x="741582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184708" y="7280704"/>
            <a:ext cx="3281340" cy="1082267"/>
          </a:xfrm>
          <a:custGeom>
            <a:avLst/>
            <a:gdLst/>
            <a:ahLst/>
            <a:cxnLst/>
            <a:rect l="l" t="t" r="r" b="b"/>
            <a:pathLst>
              <a:path w="3281340" h="1082267">
                <a:moveTo>
                  <a:pt x="0" y="0"/>
                </a:moveTo>
                <a:lnTo>
                  <a:pt x="3281340" y="0"/>
                </a:lnTo>
                <a:lnTo>
                  <a:pt x="328134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805955" y="7747061"/>
            <a:ext cx="2136201" cy="34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3"/>
              </a:lnSpc>
            </a:pPr>
            <a:r>
              <a:rPr lang="en-US" sz="2623" b="1" spc="-52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Target Found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491596" y="3133131"/>
            <a:ext cx="512245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6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50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50949" y="3133131"/>
            <a:ext cx="421414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6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74628" y="3133131"/>
            <a:ext cx="421414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6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61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17014" y="3133131"/>
            <a:ext cx="414049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6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25653" y="3133131"/>
            <a:ext cx="246303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6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984945" y="3133131"/>
            <a:ext cx="256531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6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86604" y="3133131"/>
            <a:ext cx="249167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63">
                <a:solidFill>
                  <a:srgbClr val="FFFFFF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976" y="5138034"/>
            <a:ext cx="10019024" cy="1727254"/>
          </a:xfrm>
          <a:custGeom>
            <a:avLst/>
            <a:gdLst/>
            <a:ahLst/>
            <a:cxnLst/>
            <a:rect l="l" t="t" r="r" b="b"/>
            <a:pathLst>
              <a:path w="10019024" h="1727254">
                <a:moveTo>
                  <a:pt x="0" y="0"/>
                </a:moveTo>
                <a:lnTo>
                  <a:pt x="10019024" y="0"/>
                </a:lnTo>
                <a:lnTo>
                  <a:pt x="1001902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36515" y="1356789"/>
            <a:ext cx="9394597" cy="109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b="1" spc="-249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776725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74700" y="3656400"/>
            <a:ext cx="5576089" cy="45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2"/>
              </a:lnSpc>
            </a:pPr>
            <a:r>
              <a:rPr lang="en-US" sz="2601" spc="-25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Find a target value in a </a:t>
            </a:r>
            <a:r>
              <a:rPr lang="en-US" sz="2601" b="1" spc="-25">
                <a:solidFill>
                  <a:srgbClr val="5B83D8"/>
                </a:solidFill>
                <a:latin typeface="Inter Bold"/>
                <a:ea typeface="Inter Bold"/>
                <a:cs typeface="Inter Bold"/>
                <a:sym typeface="Inter Bold"/>
              </a:rPr>
              <a:t>sorted array.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9232" y="4766487"/>
            <a:ext cx="7122868" cy="104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sz="2847" spc="-27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Linear search scans every element, taking O(n) time and becomes inefficient at scale.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8126" y="6515163"/>
            <a:ext cx="6233457" cy="1014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9"/>
              </a:lnSpc>
            </a:pPr>
            <a:r>
              <a:rPr lang="en-US" sz="2786" spc="-27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Goal: return the index of the target if it exists, or report it as not found, using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969" y="7714907"/>
            <a:ext cx="3249182" cy="47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2654" b="1" spc="-25">
                <a:solidFill>
                  <a:srgbClr val="5B83D8"/>
                </a:solidFill>
                <a:latin typeface="Inter Bold"/>
                <a:ea typeface="Inter Bold"/>
                <a:cs typeface="Inter Bold"/>
                <a:sym typeface="Inter Bold"/>
              </a:rPr>
              <a:t>fewer comparisons.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664354" y="2142670"/>
            <a:ext cx="7623646" cy="5367606"/>
          </a:xfrm>
          <a:custGeom>
            <a:avLst/>
            <a:gdLst/>
            <a:ahLst/>
            <a:cxnLst/>
            <a:rect l="l" t="t" r="r" b="b"/>
            <a:pathLst>
              <a:path w="7623646" h="5367606">
                <a:moveTo>
                  <a:pt x="0" y="0"/>
                </a:moveTo>
                <a:lnTo>
                  <a:pt x="7623646" y="0"/>
                </a:lnTo>
                <a:lnTo>
                  <a:pt x="7623646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0115" y="448679"/>
            <a:ext cx="7355643" cy="939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19"/>
              </a:lnSpc>
            </a:pPr>
            <a:r>
              <a:rPr lang="en-US" sz="7119" b="1" spc="-212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Working Principle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8216" y="1482784"/>
            <a:ext cx="9545630" cy="809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5"/>
              </a:lnSpc>
            </a:pPr>
            <a:r>
              <a:rPr lang="en-US" sz="6165" b="1" spc="-183">
                <a:solidFill>
                  <a:srgbClr val="5B88F4"/>
                </a:solidFill>
                <a:latin typeface="Inter Bold"/>
                <a:ea typeface="Inter Bold"/>
                <a:cs typeface="Inter Bold"/>
                <a:sym typeface="Inter Bold"/>
              </a:rPr>
              <a:t>with Sorted Array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4108" y="2476793"/>
            <a:ext cx="6956373" cy="52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 spc="-8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Finding target value 23 in a sorted array.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3644" y="3866249"/>
            <a:ext cx="1002807" cy="951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b="1" spc="-216">
                <a:solidFill>
                  <a:srgbClr val="467FE8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6149" y="3655472"/>
            <a:ext cx="3202253" cy="126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6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Middle element is 19</a:t>
            </a:r>
          </a:p>
          <a:p>
            <a:pPr algn="l">
              <a:lnSpc>
                <a:spcPts val="3467"/>
              </a:lnSpc>
            </a:pPr>
            <a:r>
              <a:rPr lang="en-US" sz="2311" spc="-68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at index 4. Since 23 &gt; 19, search the </a:t>
            </a:r>
            <a:r>
              <a:rPr lang="en-US" sz="2311" b="1" spc="-68">
                <a:solidFill>
                  <a:srgbClr val="5B88F4"/>
                </a:solidFill>
                <a:latin typeface="Inter Bold"/>
                <a:ea typeface="Inter Bold"/>
                <a:cs typeface="Inter Bold"/>
                <a:sym typeface="Inter Bold"/>
              </a:rPr>
              <a:t>right half.</a:t>
            </a:r>
          </a:p>
        </p:txBody>
      </p:sp>
      <p:sp>
        <p:nvSpPr>
          <p:cNvPr id="8" name="Freeform 8"/>
          <p:cNvSpPr/>
          <p:nvPr/>
        </p:nvSpPr>
        <p:spPr>
          <a:xfrm>
            <a:off x="7393952" y="3848060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487732" y="3848060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570574" y="3848060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664354" y="3848060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747196" y="3848060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214101" y="4103727"/>
            <a:ext cx="387578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b="1" spc="-86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19</a:t>
            </a:r>
          </a:p>
        </p:txBody>
      </p:sp>
      <p:sp>
        <p:nvSpPr>
          <p:cNvPr id="14" name="Freeform 14"/>
          <p:cNvSpPr/>
          <p:nvPr/>
        </p:nvSpPr>
        <p:spPr>
          <a:xfrm>
            <a:off x="12840976" y="3848060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3276496" y="4103727"/>
            <a:ext cx="459490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b="1" spc="-86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23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923818" y="3848060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236354" y="3848060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319196" y="3848060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622220" y="4711687"/>
            <a:ext cx="4364182" cy="655919"/>
          </a:xfrm>
          <a:custGeom>
            <a:avLst/>
            <a:gdLst/>
            <a:ahLst/>
            <a:cxnLst/>
            <a:rect l="l" t="t" r="r" b="b"/>
            <a:pathLst>
              <a:path w="4364182" h="655919">
                <a:moveTo>
                  <a:pt x="0" y="0"/>
                </a:moveTo>
                <a:lnTo>
                  <a:pt x="4364182" y="0"/>
                </a:lnTo>
                <a:lnTo>
                  <a:pt x="436418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45330" y="5356674"/>
            <a:ext cx="16778584" cy="218640"/>
          </a:xfrm>
          <a:custGeom>
            <a:avLst/>
            <a:gdLst/>
            <a:ahLst/>
            <a:cxnLst/>
            <a:rect l="l" t="t" r="r" b="b"/>
            <a:pathLst>
              <a:path w="16778584" h="218640">
                <a:moveTo>
                  <a:pt x="0" y="0"/>
                </a:moveTo>
                <a:lnTo>
                  <a:pt x="16778584" y="0"/>
                </a:lnTo>
                <a:lnTo>
                  <a:pt x="16778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65060" y="5732641"/>
            <a:ext cx="1182240" cy="132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05"/>
              </a:lnSpc>
            </a:pPr>
            <a:r>
              <a:rPr lang="en-US" sz="7403" b="1" spc="-220">
                <a:solidFill>
                  <a:srgbClr val="467FEA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18172" y="5896658"/>
            <a:ext cx="3482578" cy="1263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69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New middle element is 27 at index 6. Since 23 &lt; 27, search the </a:t>
            </a:r>
            <a:r>
              <a:rPr lang="en-US" sz="2321" b="1" spc="-69">
                <a:solidFill>
                  <a:srgbClr val="5A88F5"/>
                </a:solidFill>
                <a:latin typeface="Inter Bold"/>
                <a:ea typeface="Inter Bold"/>
                <a:cs typeface="Inter Bold"/>
                <a:sym typeface="Inter Bold"/>
              </a:rPr>
              <a:t>left half.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1703" y="5769303"/>
            <a:ext cx="803878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Medium"/>
                <a:ea typeface="Inter Medium"/>
                <a:cs typeface="Inter Medium"/>
                <a:sym typeface="Inter Medium"/>
              </a:rPr>
              <a:t>Index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724781" y="5769303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8</a:t>
            </a:r>
          </a:p>
        </p:txBody>
      </p:sp>
      <p:sp>
        <p:nvSpPr>
          <p:cNvPr id="25" name="Freeform 25"/>
          <p:cNvSpPr/>
          <p:nvPr/>
        </p:nvSpPr>
        <p:spPr>
          <a:xfrm>
            <a:off x="7393952" y="6209369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487732" y="6209369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570574" y="6209369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664354" y="6209369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747196" y="6209369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241901" y="6422287"/>
            <a:ext cx="359303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19</a:t>
            </a:r>
          </a:p>
        </p:txBody>
      </p:sp>
      <p:sp>
        <p:nvSpPr>
          <p:cNvPr id="31" name="Freeform 31"/>
          <p:cNvSpPr/>
          <p:nvPr/>
        </p:nvSpPr>
        <p:spPr>
          <a:xfrm>
            <a:off x="12840976" y="6209369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3303876" y="6422287"/>
            <a:ext cx="432056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23</a:t>
            </a:r>
          </a:p>
        </p:txBody>
      </p:sp>
      <p:sp>
        <p:nvSpPr>
          <p:cNvPr id="33" name="Freeform 33"/>
          <p:cNvSpPr/>
          <p:nvPr/>
        </p:nvSpPr>
        <p:spPr>
          <a:xfrm>
            <a:off x="13923818" y="6209369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5236354" y="6209369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6319196" y="620936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0445598" y="7062064"/>
            <a:ext cx="3926670" cy="448211"/>
          </a:xfrm>
          <a:custGeom>
            <a:avLst/>
            <a:gdLst/>
            <a:ahLst/>
            <a:cxnLst/>
            <a:rect l="l" t="t" r="r" b="b"/>
            <a:pathLst>
              <a:path w="3926670" h="448211">
                <a:moveTo>
                  <a:pt x="0" y="0"/>
                </a:moveTo>
                <a:lnTo>
                  <a:pt x="3926670" y="0"/>
                </a:lnTo>
                <a:lnTo>
                  <a:pt x="392667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45330" y="7499343"/>
            <a:ext cx="16778584" cy="218640"/>
          </a:xfrm>
          <a:custGeom>
            <a:avLst/>
            <a:gdLst/>
            <a:ahLst/>
            <a:cxnLst/>
            <a:rect l="l" t="t" r="r" b="b"/>
            <a:pathLst>
              <a:path w="16778584" h="218640">
                <a:moveTo>
                  <a:pt x="0" y="0"/>
                </a:moveTo>
                <a:lnTo>
                  <a:pt x="16778584" y="0"/>
                </a:lnTo>
                <a:lnTo>
                  <a:pt x="16778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764896" y="7991767"/>
            <a:ext cx="1198641" cy="132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05"/>
              </a:lnSpc>
            </a:pPr>
            <a:r>
              <a:rPr lang="en-US" sz="7403" b="1" spc="-220">
                <a:solidFill>
                  <a:srgbClr val="467FEA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518172" y="8155784"/>
            <a:ext cx="3482578" cy="1263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69">
                <a:solidFill>
                  <a:srgbClr val="F1F1F1"/>
                </a:solidFill>
                <a:latin typeface="Inter"/>
                <a:ea typeface="Inter"/>
                <a:cs typeface="Inter"/>
                <a:sym typeface="Inter"/>
              </a:rPr>
              <a:t>New middle element is 23 at index 5. Target found.</a:t>
            </a:r>
          </a:p>
          <a:p>
            <a:pPr algn="l">
              <a:lnSpc>
                <a:spcPts val="3482"/>
              </a:lnSpc>
            </a:pPr>
            <a:r>
              <a:rPr lang="en-US" sz="2321" b="1" spc="-69">
                <a:solidFill>
                  <a:srgbClr val="5A88F5"/>
                </a:solidFill>
                <a:latin typeface="Inter Bold"/>
                <a:ea typeface="Inter Bold"/>
                <a:cs typeface="Inter Bold"/>
                <a:sym typeface="Inter Bold"/>
              </a:rPr>
              <a:t>Search complete.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750281" y="8053238"/>
            <a:ext cx="182933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</a:t>
            </a:r>
          </a:p>
        </p:txBody>
      </p:sp>
      <p:sp>
        <p:nvSpPr>
          <p:cNvPr id="41" name="Freeform 41"/>
          <p:cNvSpPr/>
          <p:nvPr/>
        </p:nvSpPr>
        <p:spPr>
          <a:xfrm>
            <a:off x="7393952" y="8352038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8487732" y="8352038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570574" y="8352038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0664354" y="8352038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1747196" y="8352038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2241901" y="8651292"/>
            <a:ext cx="359303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19</a:t>
            </a:r>
          </a:p>
        </p:txBody>
      </p:sp>
      <p:sp>
        <p:nvSpPr>
          <p:cNvPr id="47" name="Freeform 47"/>
          <p:cNvSpPr/>
          <p:nvPr/>
        </p:nvSpPr>
        <p:spPr>
          <a:xfrm>
            <a:off x="12840976" y="8352038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3303876" y="8651292"/>
            <a:ext cx="432056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23</a:t>
            </a:r>
          </a:p>
        </p:txBody>
      </p:sp>
      <p:sp>
        <p:nvSpPr>
          <p:cNvPr id="49" name="Freeform 49"/>
          <p:cNvSpPr/>
          <p:nvPr/>
        </p:nvSpPr>
        <p:spPr>
          <a:xfrm>
            <a:off x="13923818" y="8352038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5236354" y="8352038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6319196" y="8352038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16626965" y="8651292"/>
            <a:ext cx="429565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35</a:t>
            </a:r>
          </a:p>
        </p:txBody>
      </p:sp>
      <p:sp>
        <p:nvSpPr>
          <p:cNvPr id="53" name="Freeform 53"/>
          <p:cNvSpPr/>
          <p:nvPr/>
        </p:nvSpPr>
        <p:spPr>
          <a:xfrm>
            <a:off x="13278488" y="9204733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6501703" y="3480055"/>
            <a:ext cx="803878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Medium"/>
                <a:ea typeface="Inter Medium"/>
                <a:cs typeface="Inter Medium"/>
                <a:sym typeface="Inter Medium"/>
              </a:rPr>
              <a:t>Index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884390" y="3480055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015855" y="3480055"/>
            <a:ext cx="140384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081094" y="3480055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206234" y="3480055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304586" y="3480055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402937" y="3480055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4528078" y="3480055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626429" y="3480055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6724781" y="3480055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8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872822" y="4103727"/>
            <a:ext cx="229745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b="1" spc="-86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3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971174" y="4103727"/>
            <a:ext cx="229745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b="1" spc="-86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7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026565" y="4103727"/>
            <a:ext cx="315666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b="1" spc="-86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11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115750" y="4103727"/>
            <a:ext cx="387578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b="1" spc="-86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15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401637" y="4103727"/>
            <a:ext cx="459490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b="1" spc="-86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27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5535945" y="4103727"/>
            <a:ext cx="387578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b="1" spc="-86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31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6598340" y="4103727"/>
            <a:ext cx="459490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2896" b="1" spc="-86">
                <a:solidFill>
                  <a:srgbClr val="F4F4F4"/>
                </a:solidFill>
                <a:latin typeface="Inter Medium"/>
                <a:ea typeface="Inter Medium"/>
                <a:cs typeface="Inter Medium"/>
                <a:sym typeface="Inter Medium"/>
              </a:rPr>
              <a:t>35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884390" y="5769303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015855" y="5769303"/>
            <a:ext cx="140384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081094" y="5769303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206234" y="5769303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304586" y="5769303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402937" y="5769303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4528078" y="5769303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5626429" y="5769303"/>
            <a:ext cx="206609" cy="44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487" b="1" spc="-74">
                <a:solidFill>
                  <a:srgbClr val="4669B8"/>
                </a:solidFill>
                <a:latin typeface="Inter Bold"/>
                <a:ea typeface="Inter Bold"/>
                <a:cs typeface="Inter Bold"/>
                <a:sym typeface="Inter Bold"/>
              </a:rPr>
              <a:t>7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891876" y="6422287"/>
            <a:ext cx="218963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001701" y="6422287"/>
            <a:ext cx="196016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7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058253" y="6422287"/>
            <a:ext cx="279614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11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147996" y="6422287"/>
            <a:ext cx="350409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15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4440490" y="6422287"/>
            <a:ext cx="409109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27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5564011" y="6422287"/>
            <a:ext cx="358770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31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6626965" y="6422287"/>
            <a:ext cx="429565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35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502204" y="8053238"/>
            <a:ext cx="753817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Index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906481" y="8053238"/>
            <a:ext cx="189752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041450" y="8053238"/>
            <a:ext cx="116518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109262" y="8053238"/>
            <a:ext cx="177596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231957" y="8053238"/>
            <a:ext cx="182488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2325713" y="8053238"/>
            <a:ext cx="191679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3432144" y="8053238"/>
            <a:ext cx="175521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5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4553578" y="8053238"/>
            <a:ext cx="182933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6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5661714" y="8053238"/>
            <a:ext cx="163364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sz="2311" b="1" spc="-68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7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891876" y="8651292"/>
            <a:ext cx="218963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001701" y="8651292"/>
            <a:ext cx="196016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7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058253" y="8651292"/>
            <a:ext cx="279614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11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147996" y="8651292"/>
            <a:ext cx="350409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15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4440490" y="8651292"/>
            <a:ext cx="409109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27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5564011" y="8651292"/>
            <a:ext cx="358770" cy="49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sz="2759" b="1" spc="-82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31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2081867" y="9767315"/>
            <a:ext cx="2920008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188" b="1" spc="-65">
                <a:solidFill>
                  <a:srgbClr val="467F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Target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1115" y="1750921"/>
            <a:ext cx="6934563" cy="2426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1"/>
              </a:lnSpc>
            </a:pPr>
            <a:r>
              <a:rPr lang="en-US" sz="8659" b="1" spc="-25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Step-by-Step </a:t>
            </a:r>
            <a:r>
              <a:rPr lang="en-US" sz="8659" b="1" spc="-257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Algorithm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6822" y="4682851"/>
            <a:ext cx="6363922" cy="1244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3"/>
              </a:lnSpc>
            </a:pPr>
            <a:r>
              <a:rPr lang="en-US" sz="3234" spc="-96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A simple procedure to find a target in a sorted array.</a:t>
            </a:r>
          </a:p>
        </p:txBody>
      </p:sp>
      <p:sp>
        <p:nvSpPr>
          <p:cNvPr id="5" name="Freeform 5"/>
          <p:cNvSpPr/>
          <p:nvPr/>
        </p:nvSpPr>
        <p:spPr>
          <a:xfrm>
            <a:off x="8706488" y="634055"/>
            <a:ext cx="8717426" cy="1519546"/>
          </a:xfrm>
          <a:custGeom>
            <a:avLst/>
            <a:gdLst/>
            <a:ahLst/>
            <a:cxnLst/>
            <a:rect l="l" t="t" r="r" b="b"/>
            <a:pathLst>
              <a:path w="8717426" h="1519546">
                <a:moveTo>
                  <a:pt x="0" y="0"/>
                </a:moveTo>
                <a:lnTo>
                  <a:pt x="8717426" y="0"/>
                </a:lnTo>
                <a:lnTo>
                  <a:pt x="871742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28886" y="1104666"/>
            <a:ext cx="618429" cy="65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sz="4724" b="1" spc="-140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05268" y="905460"/>
            <a:ext cx="4246659" cy="94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 b="1" spc="-5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Initialize the search range.</a:t>
            </a:r>
          </a:p>
          <a:p>
            <a:pPr algn="l">
              <a:lnSpc>
                <a:spcPts val="3935"/>
              </a:lnSpc>
            </a:pPr>
            <a:r>
              <a:rPr lang="en-US" sz="2623" spc="-5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Set </a:t>
            </a:r>
            <a:r>
              <a:rPr lang="en-US" sz="2623" b="1" spc="-52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low = 0</a:t>
            </a:r>
            <a:r>
              <a:rPr lang="en-US" sz="2623" spc="-5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2623" b="1" spc="-52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high = n - 1</a:t>
            </a:r>
            <a:r>
              <a:rPr lang="en-US" sz="2623" spc="-5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8" name="Freeform 8"/>
          <p:cNvSpPr/>
          <p:nvPr/>
        </p:nvSpPr>
        <p:spPr>
          <a:xfrm>
            <a:off x="12840976" y="1924030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706488" y="2350377"/>
            <a:ext cx="8717426" cy="1727254"/>
          </a:xfrm>
          <a:custGeom>
            <a:avLst/>
            <a:gdLst/>
            <a:ahLst/>
            <a:cxnLst/>
            <a:rect l="l" t="t" r="r" b="b"/>
            <a:pathLst>
              <a:path w="8717426" h="1727254">
                <a:moveTo>
                  <a:pt x="0" y="0"/>
                </a:moveTo>
                <a:lnTo>
                  <a:pt x="8717426" y="0"/>
                </a:lnTo>
                <a:lnTo>
                  <a:pt x="871742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27653" y="2911967"/>
            <a:ext cx="741758" cy="65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sz="4724" b="1" spc="-140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99219" y="2712761"/>
            <a:ext cx="4851550" cy="94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 b="1" spc="-5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Find the middle position.</a:t>
            </a:r>
          </a:p>
          <a:p>
            <a:pPr algn="l">
              <a:lnSpc>
                <a:spcPts val="3935"/>
              </a:lnSpc>
            </a:pPr>
            <a:r>
              <a:rPr lang="en-US" sz="2623" spc="-5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Compute </a:t>
            </a:r>
            <a:r>
              <a:rPr lang="en-US" sz="2623" b="1" spc="-52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mid = (low + high) / 2</a:t>
            </a:r>
            <a:r>
              <a:rPr lang="en-US" sz="2623" b="1" spc="-5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840976" y="3848060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706488" y="4285339"/>
            <a:ext cx="8717426" cy="1508614"/>
          </a:xfrm>
          <a:custGeom>
            <a:avLst/>
            <a:gdLst/>
            <a:ahLst/>
            <a:cxnLst/>
            <a:rect l="l" t="t" r="r" b="b"/>
            <a:pathLst>
              <a:path w="8717426" h="1508614">
                <a:moveTo>
                  <a:pt x="0" y="0"/>
                </a:moveTo>
                <a:lnTo>
                  <a:pt x="8717426" y="0"/>
                </a:lnTo>
                <a:lnTo>
                  <a:pt x="871742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127554" y="4734328"/>
            <a:ext cx="751636" cy="65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sz="4724" b="1" spc="-140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01870" y="4520062"/>
            <a:ext cx="4586389" cy="94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 b="1" spc="-5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Compare the middle element.</a:t>
            </a:r>
          </a:p>
          <a:p>
            <a:pPr algn="l">
              <a:lnSpc>
                <a:spcPts val="3935"/>
              </a:lnSpc>
            </a:pPr>
            <a:r>
              <a:rPr lang="en-US" sz="2623" spc="-5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If equal, return </a:t>
            </a:r>
            <a:r>
              <a:rPr lang="en-US" sz="2623" b="1" spc="-52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mid</a:t>
            </a:r>
            <a:r>
              <a:rPr lang="en-US" sz="2623" b="1" spc="-5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2840976" y="5564382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706488" y="5990729"/>
            <a:ext cx="8717426" cy="1945894"/>
          </a:xfrm>
          <a:custGeom>
            <a:avLst/>
            <a:gdLst/>
            <a:ahLst/>
            <a:cxnLst/>
            <a:rect l="l" t="t" r="r" b="b"/>
            <a:pathLst>
              <a:path w="8717426" h="1945894">
                <a:moveTo>
                  <a:pt x="0" y="0"/>
                </a:moveTo>
                <a:lnTo>
                  <a:pt x="8717426" y="0"/>
                </a:lnTo>
                <a:lnTo>
                  <a:pt x="8717426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127368" y="6647055"/>
            <a:ext cx="770195" cy="65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sz="4724" b="1" spc="-140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89413" y="6351251"/>
            <a:ext cx="5832123" cy="1314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48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Adjust the search range.</a:t>
            </a:r>
          </a:p>
          <a:p>
            <a:pPr algn="l">
              <a:lnSpc>
                <a:spcPts val="3599"/>
              </a:lnSpc>
            </a:pPr>
            <a:r>
              <a:rPr lang="en-US" sz="2399" spc="-48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If the middle value is smaller, search </a:t>
            </a:r>
            <a:r>
              <a:rPr lang="en-US" sz="2399" b="1" spc="-48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right half</a:t>
            </a:r>
            <a:r>
              <a:rPr lang="en-US" sz="2399" spc="-48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. If it is larger, search </a:t>
            </a:r>
            <a:r>
              <a:rPr lang="en-US" sz="2399" b="1" spc="-48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left half</a:t>
            </a:r>
            <a:r>
              <a:rPr lang="en-US" sz="2399" spc="-48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840976" y="7707051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706488" y="8133399"/>
            <a:ext cx="8717426" cy="1519546"/>
          </a:xfrm>
          <a:custGeom>
            <a:avLst/>
            <a:gdLst/>
            <a:ahLst/>
            <a:cxnLst/>
            <a:rect l="l" t="t" r="r" b="b"/>
            <a:pathLst>
              <a:path w="8717426" h="1519546">
                <a:moveTo>
                  <a:pt x="0" y="0"/>
                </a:moveTo>
                <a:lnTo>
                  <a:pt x="8717426" y="0"/>
                </a:lnTo>
                <a:lnTo>
                  <a:pt x="871742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127695" y="8635086"/>
            <a:ext cx="737567" cy="65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4"/>
              </a:lnSpc>
            </a:pPr>
            <a:r>
              <a:rPr lang="en-US" sz="4724" b="1" spc="-140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31237" y="8435880"/>
            <a:ext cx="1649784" cy="94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 b="1" spc="-5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Not found.</a:t>
            </a:r>
          </a:p>
          <a:p>
            <a:pPr algn="l">
              <a:lnSpc>
                <a:spcPts val="3935"/>
              </a:lnSpc>
            </a:pPr>
            <a:r>
              <a:rPr lang="en-US" sz="2623" spc="-52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Return </a:t>
            </a:r>
            <a:r>
              <a:rPr lang="en-US" sz="2623" b="1" spc="-52">
                <a:solidFill>
                  <a:srgbClr val="4D8C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-1</a:t>
            </a:r>
            <a:r>
              <a:rPr lang="en-US" sz="2623" b="1" spc="-52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062064"/>
            <a:ext cx="7842402" cy="3224936"/>
          </a:xfrm>
          <a:custGeom>
            <a:avLst/>
            <a:gdLst/>
            <a:ahLst/>
            <a:cxnLst/>
            <a:rect l="l" t="t" r="r" b="b"/>
            <a:pathLst>
              <a:path w="7842402" h="3224936">
                <a:moveTo>
                  <a:pt x="0" y="0"/>
                </a:moveTo>
                <a:lnTo>
                  <a:pt x="7842402" y="0"/>
                </a:lnTo>
                <a:lnTo>
                  <a:pt x="784240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18474" y="669503"/>
            <a:ext cx="5840868" cy="101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1"/>
              </a:lnSpc>
            </a:pPr>
            <a:r>
              <a:rPr lang="en-US" sz="761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Pseudocode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8745" y="1828179"/>
            <a:ext cx="5813785" cy="49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3717" b="1" spc="74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Binary Search (Iterative)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102" y="3814043"/>
            <a:ext cx="4878055" cy="233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093" spc="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Find the position of</a:t>
            </a:r>
          </a:p>
          <a:p>
            <a:pPr algn="l">
              <a:lnSpc>
                <a:spcPts val="4640"/>
              </a:lnSpc>
            </a:pPr>
            <a:r>
              <a:rPr lang="en-US" sz="3093" spc="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target in a sorted array. Return its index if found, otherwise return </a:t>
            </a:r>
            <a:r>
              <a:rPr lang="en-US" sz="3093" b="1" spc="61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-1</a:t>
            </a:r>
            <a:r>
              <a:rPr lang="en-US" sz="3093" spc="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7" name="Freeform 7"/>
          <p:cNvSpPr/>
          <p:nvPr/>
        </p:nvSpPr>
        <p:spPr>
          <a:xfrm>
            <a:off x="7175196" y="1924030"/>
            <a:ext cx="10686230" cy="7936623"/>
          </a:xfrm>
          <a:custGeom>
            <a:avLst/>
            <a:gdLst/>
            <a:ahLst/>
            <a:cxnLst/>
            <a:rect l="l" t="t" r="r" b="b"/>
            <a:pathLst>
              <a:path w="10686230" h="7936623">
                <a:moveTo>
                  <a:pt x="0" y="0"/>
                </a:moveTo>
                <a:lnTo>
                  <a:pt x="10686230" y="0"/>
                </a:lnTo>
                <a:lnTo>
                  <a:pt x="10686230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706264" y="2586041"/>
            <a:ext cx="6256443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4571E1"/>
                </a:solidFill>
                <a:latin typeface="Inter Bold"/>
                <a:ea typeface="Inter Bold"/>
                <a:cs typeface="Inter Bold"/>
                <a:sym typeface="Inter Bold"/>
              </a:rPr>
              <a:t>procedure </a:t>
            </a: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BINARY SEARCH(arr, target)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04921" y="3143292"/>
            <a:ext cx="1216531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&lt; 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28605" y="3144037"/>
            <a:ext cx="4445770" cy="40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b="1" spc="-115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// start at the first index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78851" y="3625239"/>
            <a:ext cx="3823537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&lt; length(arr) - 1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28609" y="3615525"/>
            <a:ext cx="4445381" cy="43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351" b="1" spc="-117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// start at the last index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9280" y="4242733"/>
            <a:ext cx="278064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4571E1"/>
                </a:solidFill>
                <a:latin typeface="Inter Bold"/>
                <a:ea typeface="Inter Bold"/>
                <a:cs typeface="Inter Bold"/>
                <a:sym typeface="Inter Bold"/>
              </a:rPr>
              <a:t>while </a:t>
            </a: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&lt; high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28599" y="4251774"/>
            <a:ext cx="4446345" cy="36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-101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// repeat while range is valid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39685" y="4769863"/>
            <a:ext cx="399717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mid &lt; (low + high) //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38304" y="4799984"/>
            <a:ext cx="347580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// find middle index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84164" y="5296992"/>
            <a:ext cx="347580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4571E1"/>
                </a:solidFill>
                <a:latin typeface="Inter Bold"/>
                <a:ea typeface="Inter Bold"/>
                <a:cs typeface="Inter Bold"/>
                <a:sym typeface="Inter Bold"/>
              </a:rPr>
              <a:t>if </a:t>
            </a: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arr[mid] = target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46994" y="5296992"/>
            <a:ext cx="260685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// target found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64113" y="5809061"/>
            <a:ext cx="1737901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4571E1"/>
                </a:solidFill>
                <a:latin typeface="Inter Bold"/>
                <a:ea typeface="Inter Bold"/>
                <a:cs typeface="Inter Bold"/>
                <a:sym typeface="Inter Bold"/>
              </a:rPr>
              <a:t>return </a:t>
            </a: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28609" y="6356599"/>
            <a:ext cx="4445381" cy="43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6"/>
              </a:lnSpc>
            </a:pPr>
            <a:r>
              <a:rPr lang="en-US" sz="2351" b="1" spc="-117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// target is in right half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75474" y="6366312"/>
            <a:ext cx="4344753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4571E1"/>
                </a:solidFill>
                <a:latin typeface="Inter Bold"/>
                <a:ea typeface="Inter Bold"/>
                <a:cs typeface="Inter Bold"/>
                <a:sym typeface="Inter Bold"/>
              </a:rPr>
              <a:t>else if </a:t>
            </a: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arr[mid] &lt; target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38304" y="6878380"/>
            <a:ext cx="347580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// discard left half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58899" y="6878380"/>
            <a:ext cx="225927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&lt; mid + 1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29615" y="7420571"/>
            <a:ext cx="4344753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// target is in left half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1970" y="7420571"/>
            <a:ext cx="695161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4571E1"/>
                </a:solidFill>
                <a:latin typeface="Inter Bold"/>
                <a:ea typeface="Inter Bold"/>
                <a:cs typeface="Inter Bold"/>
                <a:sym typeface="Inter Bold"/>
              </a:rPr>
              <a:t>else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036567" y="7917579"/>
            <a:ext cx="3649592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6990EB"/>
                </a:solidFill>
                <a:latin typeface="Inter Bold"/>
                <a:ea typeface="Inter Bold"/>
                <a:cs typeface="Inter Bold"/>
                <a:sym typeface="Inter Bold"/>
              </a:rPr>
              <a:t>// discard right half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57160" y="7917579"/>
            <a:ext cx="2433216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&lt; mid - 1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13920" y="8489890"/>
            <a:ext cx="1564266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119">
                <a:solidFill>
                  <a:srgbClr val="4571E1"/>
                </a:solidFill>
                <a:latin typeface="Inter Bold"/>
                <a:ea typeface="Inter Bold"/>
                <a:cs typeface="Inter Bold"/>
                <a:sym typeface="Inter Bold"/>
              </a:rPr>
              <a:t>return </a:t>
            </a:r>
            <a:r>
              <a:rPr lang="en-US" sz="2399" spc="-11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84708" y="1071335"/>
            <a:ext cx="4145426" cy="8362970"/>
          </a:xfrm>
          <a:custGeom>
            <a:avLst/>
            <a:gdLst/>
            <a:ahLst/>
            <a:cxnLst/>
            <a:rect l="l" t="t" r="r" b="b"/>
            <a:pathLst>
              <a:path w="4145426" h="8362970">
                <a:moveTo>
                  <a:pt x="0" y="0"/>
                </a:moveTo>
                <a:lnTo>
                  <a:pt x="4145426" y="0"/>
                </a:lnTo>
                <a:lnTo>
                  <a:pt x="4145426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43388" y="1086897"/>
            <a:ext cx="7459677" cy="2168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1"/>
              </a:lnSpc>
            </a:pPr>
            <a:r>
              <a:rPr lang="en-US" sz="7961" b="1" spc="-303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Time and Space</a:t>
            </a:r>
          </a:p>
          <a:p>
            <a:pPr algn="l">
              <a:lnSpc>
                <a:spcPts val="8521"/>
              </a:lnSpc>
            </a:pPr>
            <a:r>
              <a:rPr lang="en-US" sz="7961" b="1" spc="-303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Complexity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3640352"/>
            <a:ext cx="3281340" cy="218640"/>
          </a:xfrm>
          <a:custGeom>
            <a:avLst/>
            <a:gdLst/>
            <a:ahLst/>
            <a:cxnLst/>
            <a:rect l="l" t="t" r="r" b="b"/>
            <a:pathLst>
              <a:path w="3281340" h="218640">
                <a:moveTo>
                  <a:pt x="0" y="0"/>
                </a:moveTo>
                <a:lnTo>
                  <a:pt x="3281340" y="0"/>
                </a:lnTo>
                <a:lnTo>
                  <a:pt x="3281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8786" y="4589621"/>
            <a:ext cx="4919814" cy="44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3234" b="1" spc="-123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Best-case time complexity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3529" y="5139533"/>
            <a:ext cx="1445568" cy="86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9"/>
              </a:lnSpc>
            </a:pPr>
            <a:r>
              <a:rPr lang="en-US" sz="6287" b="1" spc="-239">
                <a:solidFill>
                  <a:srgbClr val="3876E8"/>
                </a:solidFill>
                <a:latin typeface="Inter Bold"/>
                <a:ea typeface="Inter Bold"/>
                <a:cs typeface="Inter Bold"/>
                <a:sym typeface="Inter Bold"/>
              </a:rPr>
              <a:t>O(1)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1948" y="6276435"/>
            <a:ext cx="7603597" cy="44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3234" b="1" spc="-123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Average and worst-case time complexity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9085" y="6826347"/>
            <a:ext cx="2889939" cy="86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9"/>
              </a:lnSpc>
            </a:pPr>
            <a:r>
              <a:rPr lang="en-US" sz="6287" b="1" spc="-239">
                <a:solidFill>
                  <a:srgbClr val="3876E8"/>
                </a:solidFill>
                <a:latin typeface="Inter Bold"/>
                <a:ea typeface="Inter Bold"/>
                <a:cs typeface="Inter Bold"/>
                <a:sym typeface="Inter Bold"/>
              </a:rPr>
              <a:t>O(log n)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6461" y="8008432"/>
            <a:ext cx="5152300" cy="443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3234" b="1" spc="-123">
                <a:solidFill>
                  <a:srgbClr val="F6F6F6"/>
                </a:solidFill>
                <a:latin typeface="Inter Medium"/>
                <a:ea typeface="Inter Medium"/>
                <a:cs typeface="Inter Medium"/>
                <a:sym typeface="Inter Medium"/>
              </a:rPr>
              <a:t>Space complexity (iterative)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3529" y="8558344"/>
            <a:ext cx="1445568" cy="86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9"/>
              </a:lnSpc>
            </a:pPr>
            <a:r>
              <a:rPr lang="en-US" sz="6287" b="1" spc="-239">
                <a:solidFill>
                  <a:srgbClr val="3876E8"/>
                </a:solidFill>
                <a:latin typeface="Inter Bold"/>
                <a:ea typeface="Inter Bold"/>
                <a:cs typeface="Inter Bold"/>
                <a:sym typeface="Inter Bold"/>
              </a:rPr>
              <a:t>O(1)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4328" y="539387"/>
            <a:ext cx="9613323" cy="1989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6662" b="1" spc="-198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Advantages, Limitations, and Applications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214004"/>
            <a:ext cx="5457962" cy="6438940"/>
          </a:xfrm>
          <a:custGeom>
            <a:avLst/>
            <a:gdLst/>
            <a:ahLst/>
            <a:cxnLst/>
            <a:rect l="l" t="t" r="r" b="b"/>
            <a:pathLst>
              <a:path w="5457962" h="6438940">
                <a:moveTo>
                  <a:pt x="0" y="0"/>
                </a:moveTo>
                <a:lnTo>
                  <a:pt x="5457962" y="0"/>
                </a:lnTo>
                <a:lnTo>
                  <a:pt x="5457962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4086" y="3421712"/>
            <a:ext cx="1323474" cy="1727254"/>
          </a:xfrm>
          <a:custGeom>
            <a:avLst/>
            <a:gdLst/>
            <a:ahLst/>
            <a:cxnLst/>
            <a:rect l="l" t="t" r="r" b="b"/>
            <a:pathLst>
              <a:path w="1323474" h="1727254">
                <a:moveTo>
                  <a:pt x="0" y="0"/>
                </a:moveTo>
                <a:lnTo>
                  <a:pt x="1323474" y="0"/>
                </a:lnTo>
                <a:lnTo>
                  <a:pt x="132347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71979" y="3828186"/>
            <a:ext cx="673958" cy="76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5139" b="1" spc="-153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30166" y="3903491"/>
            <a:ext cx="2727195" cy="57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849" b="1" spc="-114">
                <a:solidFill>
                  <a:srgbClr val="4874C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Advantages</a:t>
            </a:r>
          </a:p>
        </p:txBody>
      </p:sp>
      <p:sp>
        <p:nvSpPr>
          <p:cNvPr id="8" name="Freeform 8"/>
          <p:cNvSpPr/>
          <p:nvPr/>
        </p:nvSpPr>
        <p:spPr>
          <a:xfrm>
            <a:off x="1957866" y="4711687"/>
            <a:ext cx="3926670" cy="218640"/>
          </a:xfrm>
          <a:custGeom>
            <a:avLst/>
            <a:gdLst/>
            <a:ahLst/>
            <a:cxnLst/>
            <a:rect l="l" t="t" r="r" b="b"/>
            <a:pathLst>
              <a:path w="3926670" h="218640">
                <a:moveTo>
                  <a:pt x="0" y="0"/>
                </a:moveTo>
                <a:lnTo>
                  <a:pt x="3926670" y="0"/>
                </a:lnTo>
                <a:lnTo>
                  <a:pt x="392667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10076" y="5502818"/>
            <a:ext cx="4185383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Fast search on sorted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9782" y="6391408"/>
            <a:ext cx="3214780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Simple to implement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0458" y="7264937"/>
            <a:ext cx="3147159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Low memory usage</a:t>
            </a:r>
          </a:p>
        </p:txBody>
      </p:sp>
      <p:sp>
        <p:nvSpPr>
          <p:cNvPr id="12" name="Freeform 12"/>
          <p:cNvSpPr/>
          <p:nvPr/>
        </p:nvSpPr>
        <p:spPr>
          <a:xfrm>
            <a:off x="6311110" y="3214004"/>
            <a:ext cx="5665780" cy="6438940"/>
          </a:xfrm>
          <a:custGeom>
            <a:avLst/>
            <a:gdLst/>
            <a:ahLst/>
            <a:cxnLst/>
            <a:rect l="l" t="t" r="r" b="b"/>
            <a:pathLst>
              <a:path w="5665780" h="6438940">
                <a:moveTo>
                  <a:pt x="0" y="0"/>
                </a:moveTo>
                <a:lnTo>
                  <a:pt x="5665780" y="0"/>
                </a:lnTo>
                <a:lnTo>
                  <a:pt x="5665780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748622" y="3421712"/>
            <a:ext cx="1312536" cy="1727254"/>
          </a:xfrm>
          <a:custGeom>
            <a:avLst/>
            <a:gdLst/>
            <a:ahLst/>
            <a:cxnLst/>
            <a:rect l="l" t="t" r="r" b="b"/>
            <a:pathLst>
              <a:path w="1312536" h="1727254">
                <a:moveTo>
                  <a:pt x="0" y="0"/>
                </a:moveTo>
                <a:lnTo>
                  <a:pt x="1312536" y="0"/>
                </a:lnTo>
                <a:lnTo>
                  <a:pt x="1312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903495" y="3828186"/>
            <a:ext cx="808358" cy="76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5139" b="1" spc="-153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46083" y="3903491"/>
            <a:ext cx="2458114" cy="57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849" b="1" spc="-114">
                <a:solidFill>
                  <a:srgbClr val="4874C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Limitations</a:t>
            </a:r>
          </a:p>
        </p:txBody>
      </p:sp>
      <p:sp>
        <p:nvSpPr>
          <p:cNvPr id="16" name="Freeform 16"/>
          <p:cNvSpPr/>
          <p:nvPr/>
        </p:nvSpPr>
        <p:spPr>
          <a:xfrm>
            <a:off x="7831464" y="4711687"/>
            <a:ext cx="3707914" cy="218640"/>
          </a:xfrm>
          <a:custGeom>
            <a:avLst/>
            <a:gdLst/>
            <a:ahLst/>
            <a:cxnLst/>
            <a:rect l="l" t="t" r="r" b="b"/>
            <a:pathLst>
              <a:path w="3707914" h="218640">
                <a:moveTo>
                  <a:pt x="0" y="0"/>
                </a:moveTo>
                <a:lnTo>
                  <a:pt x="3707914" y="0"/>
                </a:lnTo>
                <a:lnTo>
                  <a:pt x="370791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877846" y="5502818"/>
            <a:ext cx="3373258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Requires sorted array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70731" y="6391408"/>
            <a:ext cx="4084753" cy="983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Not suitable for linked lists without indexing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184708" y="3214004"/>
            <a:ext cx="5457962" cy="6438940"/>
          </a:xfrm>
          <a:custGeom>
            <a:avLst/>
            <a:gdLst/>
            <a:ahLst/>
            <a:cxnLst/>
            <a:rect l="l" t="t" r="r" b="b"/>
            <a:pathLst>
              <a:path w="5457962" h="6438940">
                <a:moveTo>
                  <a:pt x="0" y="0"/>
                </a:moveTo>
                <a:lnTo>
                  <a:pt x="5457962" y="0"/>
                </a:lnTo>
                <a:lnTo>
                  <a:pt x="5457962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403464" y="3421712"/>
            <a:ext cx="1312536" cy="1727254"/>
          </a:xfrm>
          <a:custGeom>
            <a:avLst/>
            <a:gdLst/>
            <a:ahLst/>
            <a:cxnLst/>
            <a:rect l="l" t="t" r="r" b="b"/>
            <a:pathLst>
              <a:path w="1312536" h="1727254">
                <a:moveTo>
                  <a:pt x="0" y="0"/>
                </a:moveTo>
                <a:lnTo>
                  <a:pt x="1312536" y="0"/>
                </a:lnTo>
                <a:lnTo>
                  <a:pt x="1312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582668" y="3828186"/>
            <a:ext cx="819123" cy="76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5139" b="1" spc="-153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21915" y="3903491"/>
            <a:ext cx="2803020" cy="57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849" b="1" spc="-114">
                <a:solidFill>
                  <a:srgbClr val="4874C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Applications</a:t>
            </a:r>
          </a:p>
        </p:txBody>
      </p:sp>
      <p:sp>
        <p:nvSpPr>
          <p:cNvPr id="23" name="Freeform 23"/>
          <p:cNvSpPr/>
          <p:nvPr/>
        </p:nvSpPr>
        <p:spPr>
          <a:xfrm>
            <a:off x="13497244" y="4711687"/>
            <a:ext cx="3707914" cy="218640"/>
          </a:xfrm>
          <a:custGeom>
            <a:avLst/>
            <a:gdLst/>
            <a:ahLst/>
            <a:cxnLst/>
            <a:rect l="l" t="t" r="r" b="b"/>
            <a:pathLst>
              <a:path w="3707914" h="218640">
                <a:moveTo>
                  <a:pt x="0" y="0"/>
                </a:moveTo>
                <a:lnTo>
                  <a:pt x="3707914" y="0"/>
                </a:lnTo>
                <a:lnTo>
                  <a:pt x="370791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554095" y="5502818"/>
            <a:ext cx="3676403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Searching in databases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77460" y="6391408"/>
            <a:ext cx="1339902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Libraries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58183" y="7264937"/>
            <a:ext cx="3267670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Coding competitions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67461" y="8138465"/>
            <a:ext cx="2339806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System utilities</a:t>
            </a:r>
          </a:p>
        </p:txBody>
      </p:sp>
      <p:sp>
        <p:nvSpPr>
          <p:cNvPr id="28" name="Freeform 28"/>
          <p:cNvSpPr/>
          <p:nvPr/>
        </p:nvSpPr>
        <p:spPr>
          <a:xfrm>
            <a:off x="5873598" y="6428009"/>
            <a:ext cx="885962" cy="218640"/>
          </a:xfrm>
          <a:custGeom>
            <a:avLst/>
            <a:gdLst/>
            <a:ahLst/>
            <a:cxnLst/>
            <a:rect l="l" t="t" r="r" b="b"/>
            <a:pathLst>
              <a:path w="885962" h="218640">
                <a:moveTo>
                  <a:pt x="0" y="0"/>
                </a:moveTo>
                <a:lnTo>
                  <a:pt x="885962" y="0"/>
                </a:lnTo>
                <a:lnTo>
                  <a:pt x="88596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528440" y="6428009"/>
            <a:ext cx="885962" cy="218640"/>
          </a:xfrm>
          <a:custGeom>
            <a:avLst/>
            <a:gdLst/>
            <a:ahLst/>
            <a:cxnLst/>
            <a:rect l="l" t="t" r="r" b="b"/>
            <a:pathLst>
              <a:path w="885962" h="218640">
                <a:moveTo>
                  <a:pt x="0" y="0"/>
                </a:moveTo>
                <a:lnTo>
                  <a:pt x="885962" y="0"/>
                </a:lnTo>
                <a:lnTo>
                  <a:pt x="88596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3214004"/>
            <a:ext cx="9144000" cy="5367606"/>
          </a:xfrm>
          <a:custGeom>
            <a:avLst/>
            <a:gdLst/>
            <a:ahLst/>
            <a:cxnLst/>
            <a:rect l="l" t="t" r="r" b="b"/>
            <a:pathLst>
              <a:path w="9144000" h="5367606">
                <a:moveTo>
                  <a:pt x="0" y="0"/>
                </a:moveTo>
                <a:lnTo>
                  <a:pt x="9144000" y="0"/>
                </a:lnTo>
                <a:lnTo>
                  <a:pt x="9144000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38192" y="802088"/>
            <a:ext cx="7979273" cy="2426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1"/>
              </a:lnSpc>
            </a:pPr>
            <a:r>
              <a:rPr lang="en-US" sz="8659" b="1" spc="-257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Conclusion and </a:t>
            </a:r>
            <a:r>
              <a:rPr lang="en-US" sz="8659" b="1" spc="-257">
                <a:solidFill>
                  <a:srgbClr val="5789E8"/>
                </a:solidFill>
                <a:latin typeface="Inter Bold"/>
                <a:ea typeface="Inter Bold"/>
                <a:cs typeface="Inter Bold"/>
                <a:sym typeface="Inter Bold"/>
              </a:rPr>
              <a:t>References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3421712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39832" y="4071584"/>
            <a:ext cx="7815261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spc="-5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Binary Search is an efficient searching algorithm with </a:t>
            </a:r>
            <a:r>
              <a:rPr lang="en-US" sz="2759" b="1" spc="-55">
                <a:solidFill>
                  <a:srgbClr val="5789E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logarithmetic time complexity</a:t>
            </a:r>
            <a:r>
              <a:rPr lang="en-US" sz="2759" spc="-5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0234" y="5276906"/>
            <a:ext cx="6774995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57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It requires </a:t>
            </a:r>
            <a:r>
              <a:rPr lang="en-US" sz="2896" b="1" spc="-57">
                <a:solidFill>
                  <a:srgbClr val="5789E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sorted data</a:t>
            </a:r>
            <a:r>
              <a:rPr lang="en-US" sz="2896" spc="-57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 to work correctly.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686" y="5999372"/>
            <a:ext cx="6729877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spc="-5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It is </a:t>
            </a:r>
            <a:r>
              <a:rPr lang="en-US" sz="2759" b="1" spc="-55">
                <a:solidFill>
                  <a:srgbClr val="5789E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widely used</a:t>
            </a:r>
            <a:r>
              <a:rPr lang="en-US" sz="2759" spc="-5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 in computer science and</a:t>
            </a:r>
          </a:p>
          <a:p>
            <a:pPr algn="l">
              <a:lnSpc>
                <a:spcPts val="3863"/>
              </a:lnSpc>
            </a:pPr>
            <a:r>
              <a:rPr lang="en-US" sz="2759" spc="-5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software development.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8108" y="7520971"/>
            <a:ext cx="1987684" cy="483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1" spc="-57">
                <a:solidFill>
                  <a:srgbClr val="5789E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References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471" y="8043490"/>
            <a:ext cx="7151311" cy="90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Introduction to Algorithms by Cormen, Leiserson,</a:t>
            </a:r>
          </a:p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Rivest, and Stein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3321" y="9098362"/>
            <a:ext cx="5466292" cy="47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 spc="-5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Online tutorials and documentation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01405" y="8363991"/>
            <a:ext cx="3077779" cy="655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194"/>
              </a:lnSpc>
            </a:pPr>
            <a:r>
              <a:rPr lang="en-US" sz="4724" b="1" spc="-140">
                <a:solidFill>
                  <a:srgbClr val="5789E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Thank you!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43145" y="9028622"/>
            <a:ext cx="4045719" cy="510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344"/>
              </a:lnSpc>
            </a:pPr>
            <a:r>
              <a:rPr lang="en-US" sz="2896" spc="-57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610</Words>
  <Application>Microsoft Office PowerPoint</Application>
  <PresentationFormat>Custom</PresentationFormat>
  <Paragraphs>174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Inter Medium</vt:lpstr>
      <vt:lpstr>Inter</vt:lpstr>
      <vt:lpstr>Calibri</vt:lpstr>
      <vt:lpstr>Inter Bold</vt:lpstr>
      <vt:lpstr>Inter Semi-Bold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Lab</dc:title>
  <cp:lastModifiedBy>Divyansh Rajpoot</cp:lastModifiedBy>
  <cp:revision>3</cp:revision>
  <dcterms:created xsi:type="dcterms:W3CDTF">2006-08-16T00:00:00Z</dcterms:created>
  <dcterms:modified xsi:type="dcterms:W3CDTF">2026-10-19T16:01:32Z</dcterms:modified>
  <dc:identifier>DAHYa7mDG_Y</dc:identifier>
</cp:coreProperties>
</file>